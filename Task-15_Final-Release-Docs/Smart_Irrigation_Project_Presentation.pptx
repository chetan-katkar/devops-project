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e6c80b8b54b6e" /><Relationship Type="http://schemas.openxmlformats.org/officeDocument/2006/relationships/extended-properties" Target="/docProps/app.xml" Id="R1654738290e2497c" /><Relationship Type="http://schemas.openxmlformats.org/officeDocument/2006/relationships/officeDocument" Target="/ppt/presentation.xml" Id="Ree5e3d2cd5e5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353f172064f63"/>
  </p:sldMasterIdLst>
  <p:notesMasterIdLst>
    <p:notesMasterId xmlns:r="http://schemas.openxmlformats.org/officeDocument/2006/relationships" r:id="R7cd22d161e074851"/>
  </p:notesMasterIdLst>
  <p:sldIdLst>
    <p:sldId xmlns:r="http://schemas.openxmlformats.org/officeDocument/2006/relationships" id="256" r:id="R60b4b3026d314e25"/>
    <p:sldId xmlns:r="http://schemas.openxmlformats.org/officeDocument/2006/relationships" id="257" r:id="R5c844ccf051e40e2"/>
    <p:sldId xmlns:r="http://schemas.openxmlformats.org/officeDocument/2006/relationships" id="258" r:id="Rbcf5388fb3ec4681"/>
    <p:sldId xmlns:r="http://schemas.openxmlformats.org/officeDocument/2006/relationships" id="259" r:id="Rab1ef73ca5934abf"/>
    <p:sldId xmlns:r="http://schemas.openxmlformats.org/officeDocument/2006/relationships" id="260" r:id="Rd98e3f2b5aef498f"/>
    <p:sldId xmlns:r="http://schemas.openxmlformats.org/officeDocument/2006/relationships" id="261" r:id="R723e318665d34de6"/>
    <p:sldId xmlns:r="http://schemas.openxmlformats.org/officeDocument/2006/relationships" id="262" r:id="R2ae19abe98564676"/>
    <p:sldId xmlns:r="http://schemas.openxmlformats.org/officeDocument/2006/relationships" id="263" r:id="Ra48dfe66dfac4100"/>
    <p:sldId xmlns:r="http://schemas.openxmlformats.org/officeDocument/2006/relationships" id="264" r:id="R3e185f61237c4e76"/>
    <p:sldId xmlns:r="http://schemas.openxmlformats.org/officeDocument/2006/relationships" id="265" r:id="Ra65e19f206d14af1"/>
    <p:sldId xmlns:r="http://schemas.openxmlformats.org/officeDocument/2006/relationships" id="266" r:id="R19ce1323a8ba4141"/>
    <p:sldId xmlns:r="http://schemas.openxmlformats.org/officeDocument/2006/relationships" id="267" r:id="Rea5c603de0474249"/>
    <p:sldId xmlns:r="http://schemas.openxmlformats.org/officeDocument/2006/relationships" id="268" r:id="R83094a0afee44b9b"/>
    <p:sldId xmlns:r="http://schemas.openxmlformats.org/officeDocument/2006/relationships" id="269" r:id="Rf294ffa774ff4e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60bdd0c1e44de" /><Relationship Type="http://schemas.openxmlformats.org/officeDocument/2006/relationships/slideMaster" Target="/ppt/slideMasters/slideMaster1.xml" Id="R07f353f172064f63" /><Relationship Type="http://schemas.openxmlformats.org/officeDocument/2006/relationships/notesMaster" Target="/ppt/notesMasters/notesMaster1.xml" Id="R7cd22d161e074851" /><Relationship Type="http://schemas.openxmlformats.org/officeDocument/2006/relationships/presProps" Target="/ppt/presProps.xml" Id="R2951f4d002f6452a" /><Relationship Type="http://schemas.openxmlformats.org/officeDocument/2006/relationships/tableStyles" Target="/ppt/tableStyles.xml" Id="R0d58ff16c5374cda" /><Relationship Type="http://schemas.openxmlformats.org/officeDocument/2006/relationships/slide" Target="/ppt/slides/slide1.xml" Id="R60b4b3026d314e25" /><Relationship Type="http://schemas.openxmlformats.org/officeDocument/2006/relationships/slide" Target="/ppt/slides/slide2.xml" Id="R5c844ccf051e40e2" /><Relationship Type="http://schemas.openxmlformats.org/officeDocument/2006/relationships/slide" Target="/ppt/slides/slide3.xml" Id="Rbcf5388fb3ec4681" /><Relationship Type="http://schemas.openxmlformats.org/officeDocument/2006/relationships/slide" Target="/ppt/slides/slide4.xml" Id="Rab1ef73ca5934abf" /><Relationship Type="http://schemas.openxmlformats.org/officeDocument/2006/relationships/slide" Target="/ppt/slides/slide5.xml" Id="Rd98e3f2b5aef498f" /><Relationship Type="http://schemas.openxmlformats.org/officeDocument/2006/relationships/slide" Target="/ppt/slides/slide6.xml" Id="R723e318665d34de6" /><Relationship Type="http://schemas.openxmlformats.org/officeDocument/2006/relationships/slide" Target="/ppt/slides/slide7.xml" Id="R2ae19abe98564676" /><Relationship Type="http://schemas.openxmlformats.org/officeDocument/2006/relationships/slide" Target="/ppt/slides/slide8.xml" Id="Ra48dfe66dfac4100" /><Relationship Type="http://schemas.openxmlformats.org/officeDocument/2006/relationships/slide" Target="/ppt/slides/slide9.xml" Id="R3e185f61237c4e76" /><Relationship Type="http://schemas.openxmlformats.org/officeDocument/2006/relationships/slide" Target="/ppt/slides/slide10.xml" Id="Ra65e19f206d14af1" /><Relationship Type="http://schemas.openxmlformats.org/officeDocument/2006/relationships/slide" Target="/ppt/slides/slide11.xml" Id="R19ce1323a8ba4141" /><Relationship Type="http://schemas.openxmlformats.org/officeDocument/2006/relationships/slide" Target="/ppt/slides/slide12.xml" Id="Rea5c603de0474249" /><Relationship Type="http://schemas.openxmlformats.org/officeDocument/2006/relationships/slide" Target="/ppt/slides/slide13.xml" Id="R83094a0afee44b9b" /><Relationship Type="http://schemas.openxmlformats.org/officeDocument/2006/relationships/slide" Target="/ppt/slides/slide14.xml" Id="Rf294ffa774ff4e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a1616f011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b7640f1a44321" /><Relationship Type="http://schemas.openxmlformats.org/officeDocument/2006/relationships/notesMaster" Target="/ppt/notesMasters/notesMaster1.xml" Id="R6014bacafd474a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f0f2a59908468d" /><Relationship Type="http://schemas.openxmlformats.org/officeDocument/2006/relationships/notesMaster" Target="/ppt/notesMasters/notesMaster1.xml" Id="R1f4d853fb69b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02c24ad0c04cbb" /><Relationship Type="http://schemas.openxmlformats.org/officeDocument/2006/relationships/notesMaster" Target="/ppt/notesMasters/notesMaster1.xml" Id="R8533b5d8d55743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0a8e7f75d4268" /><Relationship Type="http://schemas.openxmlformats.org/officeDocument/2006/relationships/notesMaster" Target="/ppt/notesMasters/notesMaster1.xml" Id="Rc41299ac513d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32ac6fc814085" /><Relationship Type="http://schemas.openxmlformats.org/officeDocument/2006/relationships/notesMaster" Target="/ppt/notesMasters/notesMaster1.xml" Id="R8818c3aa21bb44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397fa78c4d4ac8" /><Relationship Type="http://schemas.openxmlformats.org/officeDocument/2006/relationships/notesMaster" Target="/ppt/notesMasters/notesMaster1.xml" Id="R1c564492b34d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642e27db304b8c" /><Relationship Type="http://schemas.openxmlformats.org/officeDocument/2006/relationships/notesMaster" Target="/ppt/notesMasters/notesMaster1.xml" Id="R75e448b26a734b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e0705871674172" /><Relationship Type="http://schemas.openxmlformats.org/officeDocument/2006/relationships/notesMaster" Target="/ppt/notesMasters/notesMaster1.xml" Id="Rc8dacd03b44449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a9830428b54602" /><Relationship Type="http://schemas.openxmlformats.org/officeDocument/2006/relationships/notesMaster" Target="/ppt/notesMasters/notesMaster1.xml" Id="R522b21172ab044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b6dffca05e46ba" /><Relationship Type="http://schemas.openxmlformats.org/officeDocument/2006/relationships/notesMaster" Target="/ppt/notesMasters/notesMaster1.xml" Id="R2cb74ab168c940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9eed0603f41bf" /><Relationship Type="http://schemas.openxmlformats.org/officeDocument/2006/relationships/notesMaster" Target="/ppt/notesMasters/notesMaster1.xml" Id="Rdd13f9054b5149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15ad8e53744a33" /><Relationship Type="http://schemas.openxmlformats.org/officeDocument/2006/relationships/notesMaster" Target="/ppt/notesMasters/notesMaster1.xml" Id="R02e8a363fd9347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1423c4f6414117" /><Relationship Type="http://schemas.openxmlformats.org/officeDocument/2006/relationships/notesMaster" Target="/ppt/notesMasters/notesMaster1.xml" Id="R303ab1a5e5944a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14bafb003f4ca5" /><Relationship Type="http://schemas.openxmlformats.org/officeDocument/2006/relationships/notesMaster" Target="/ppt/notesMasters/notesMaster1.xml" Id="R38b7a972a8924b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CMPN-A.xlsx, BE CMPN A row for 23102A0024; repository source and Tasks 1–15 folders..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Set expectations: this is a prototype and evidence review. Distinguish source implementation from successful execution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Task-01/Problem_Statement.pdf; Task-03 requirements documents; current source code..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assignment documents set alert and reliability targets, but no measurements establishing those targets were found.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src/main/java/com/irrigation/SmartIrrigationApplication.java; SensorApiController.java; src/main/resources/static/index.html..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pom.xml; src/main/resources/application.properties; source packages controller, model and repository..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architecture diagram in older project docs includes a separate alert engine/service, which is not present as a separate component in current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Task-06/Screenshot 2026-10-11 155327.png; Task-06 implementation notes..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Call out that the screenshot proves a prior UI state only. It is not a live Ubuntu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src/main/java/com/irrigation/model/SensorZone.java; src/main/java/com/irrigation/controller/SensorApiController.java..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src/main/java/com/irrigation/controller/SensorApiController.java..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.git refs and commit log; Task-04 and Task-05 screenshots; repository remote configuration..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current remote is HTTPS. GitHub no longer accepts an account password for Git pushes; use SSH or a personal access token kept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Jenkinsfile; Task-07_Jenkins-CI screenshots; Task-08 pipeline docs..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src/test/java/com/irrigation; pom.xml; current Maven command output; Task-01 acceptance targets..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In this execution environment Maven could not resolve dependencies from Maven Central. That is a session restriction, not proof the user laptop cannot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Dockerfile; docker_commands.md; current docker context/ps command output..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On the laptop, first confirm Docker Engine is active and your user can access it; then build and run the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Task-13 and Task-14 Ansible playbooks and docs; current command availability check..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docker_commands.md; application.properties; current Ubuntu environment inspection..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Verify localhost app and Jenkins endpoints from the laptop. If Docker is CLI-only, use `docker ps -a` and `docker images` for the terminal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Synthesis of repository audit, current Ubuntu checks, and Task-01 acceptance criteria..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06ee96ed945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ae167355f4c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83a31736740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3ac8927fa4a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07889609346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f50b962164a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C59C14-06DA-4EF8-B2FC-B5E588F7A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AC1D89-5436-4276-8329-BA1B4B2F8D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33F8DD-935C-44D2-A5A3-B64AC622D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2384EC-1EBA-4D0A-9CD6-7BEE082CC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8F5E69-4365-4F21-9907-945DDCECC6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A3B16D-CB19-40DA-991D-2E1C9D36D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4CE263-D599-47DE-AA2C-9A51AE23C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1A5D09-0625-43EA-884E-747B873937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3A2978-AF80-4C87-A11F-9FEB8A53D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81CEF4-E8FA-42EA-8EA7-BF5A3EBB7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949a541e84229" /><Relationship Type="http://schemas.openxmlformats.org/officeDocument/2006/relationships/slideLayout" Target="/ppt/slideLayouts/slideLayout1.xml" Id="R4fb6740c28104ca8" /><Relationship Type="http://schemas.openxmlformats.org/officeDocument/2006/relationships/slideLayout" Target="/ppt/slideLayouts/slideLayout2.xml" Id="Rd797626f180141a9" /><Relationship Type="http://schemas.openxmlformats.org/officeDocument/2006/relationships/slideLayout" Target="/ppt/slideLayouts/slideLayout3.xml" Id="R3bcf6f7cf4f9474e" /><Relationship Type="http://schemas.openxmlformats.org/officeDocument/2006/relationships/slideLayout" Target="/ppt/slideLayouts/slideLayout4.xml" Id="R789785adac4d4a41" /><Relationship Type="http://schemas.openxmlformats.org/officeDocument/2006/relationships/slideLayout" Target="/ppt/slideLayouts/slideLayout5.xml" Id="R68f0cd97308741c1" /><Relationship Type="http://schemas.openxmlformats.org/officeDocument/2006/relationships/slideLayout" Target="/ppt/slideLayouts/slideLayout6.xml" Id="R04951f7d813c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6740c28104ca8"/>
    <p:sldLayoutId xmlns:r="http://schemas.openxmlformats.org/officeDocument/2006/relationships" id="2147483650" r:id="Rd797626f180141a9"/>
    <p:sldLayoutId xmlns:r="http://schemas.openxmlformats.org/officeDocument/2006/relationships" id="2147483651" r:id="R3bcf6f7cf4f9474e"/>
    <p:sldLayoutId xmlns:r="http://schemas.openxmlformats.org/officeDocument/2006/relationships" id="2147483652" r:id="R789785adac4d4a41"/>
    <p:sldLayoutId xmlns:r="http://schemas.openxmlformats.org/officeDocument/2006/relationships" id="2147483653" r:id="R68f0cd97308741c1"/>
    <p:sldLayoutId xmlns:r="http://schemas.openxmlformats.org/officeDocument/2006/relationships" id="2147483654" r:id="R04951f7d813c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b0573acd64d5a" /><Relationship Type="http://schemas.openxmlformats.org/officeDocument/2006/relationships/notesSlide" Target="/ppt/notesSlides/notesSlide1.xml" Id="R033e9478c73e4c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60461b6714b4f" /><Relationship Type="http://schemas.openxmlformats.org/officeDocument/2006/relationships/notesSlide" Target="/ppt/notesSlides/notesSlide2.xml" Id="Rf9aae3ba820548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393479f9448f8" /><Relationship Type="http://schemas.openxmlformats.org/officeDocument/2006/relationships/notesSlide" Target="/ppt/notesSlides/notesSlide3.xml" Id="R2e22c0b0221a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8a6b257624e41" /><Relationship Type="http://schemas.openxmlformats.org/officeDocument/2006/relationships/notesSlide" Target="/ppt/notesSlides/notesSlide4.xml" Id="R485a9569604842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7547dd7de4806" /><Relationship Type="http://schemas.openxmlformats.org/officeDocument/2006/relationships/image" Target="/ppt/media/image.png" Id="R23cd547d9aaf4109" /><Relationship Type="http://schemas.openxmlformats.org/officeDocument/2006/relationships/notesSlide" Target="/ppt/notesSlides/notesSlide5.xml" Id="R41f456685ed9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67f32db8d4323" /><Relationship Type="http://schemas.openxmlformats.org/officeDocument/2006/relationships/notesSlide" Target="/ppt/notesSlides/notesSlide6.xml" Id="Radd9401007254c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9f6a7196a405b" /><Relationship Type="http://schemas.openxmlformats.org/officeDocument/2006/relationships/notesSlide" Target="/ppt/notesSlides/notesSlide7.xml" Id="Rc7a0bea9468643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e3aeb86b94291" /><Relationship Type="http://schemas.openxmlformats.org/officeDocument/2006/relationships/notesSlide" Target="/ppt/notesSlides/notesSlide8.xml" Id="R77f966868c014a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7ca5defad4726" /><Relationship Type="http://schemas.openxmlformats.org/officeDocument/2006/relationships/notesSlide" Target="/ppt/notesSlides/notesSlide9.xml" Id="R833a5dddcac34c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d4e25a794483f" /><Relationship Type="http://schemas.openxmlformats.org/officeDocument/2006/relationships/notesSlide" Target="/ppt/notesSlides/notesSlide10.xml" Id="R43ee762a7cde4e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72f8be5424279" /><Relationship Type="http://schemas.openxmlformats.org/officeDocument/2006/relationships/notesSlide" Target="/ppt/notesSlides/notesSlide11.xml" Id="Ra733353b44214e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4a59544464dea" /><Relationship Type="http://schemas.openxmlformats.org/officeDocument/2006/relationships/notesSlide" Target="/ppt/notesSlides/notesSlide12.xml" Id="R84d43a95dc9942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d8790777e4ecb" /><Relationship Type="http://schemas.openxmlformats.org/officeDocument/2006/relationships/notesSlide" Target="/ppt/notesSlides/notesSlide13.xml" Id="Rf19094b7ebea4a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d1872c6244fc3" /><Relationship Type="http://schemas.openxmlformats.org/officeDocument/2006/relationships/notesSlide" Target="/ppt/notesSlides/notesSlide14.xml" Id="R6c566e8b9ad04e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2371D-99D6-4C8D-A996-0C9D3B9B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F71C6-96FD-4A52-9E46-D4A74D8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DEVOPS ENGINEERING  •  PROJECT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8528D-F12C-4EF6-A2A0-2B28EE18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42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Smart Irrigation</a:t>
            </a:r>
          </a:p>
          <a:p xmlns:a="http://schemas.openxmlformats.org/drawingml/2006/main">
            <a:pPr algn="l">
              <a:defRPr sz="42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42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Alert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0DBA-DFE3-4460-9BF0-EC018A47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20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Problem statement, implementation and Ubuntu demo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296C9-FACA-4325-9148-6B2F7E52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877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CFFF7-BBBA-4A13-9319-2C9A107E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Chetan Katkar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BCFD7-5763-4098-BB96-B6937BC2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Roll No. 23102A0024  •  BE CMPN-A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EA043-E7FC-4F1B-9482-85E70B9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Tasks 1–15 consolidated review  |  29 October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28BD2-EA6B-4173-AAB2-C91CD60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762250" cy="3333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3D24C-823C-475E-813C-F3CD04EA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PROJECT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B4290-76B1-4876-9A28-3B509B1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B5032-426B-4D9E-8D56-525EED6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seeded farm zones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7C615-1358-46EF-8F37-40024186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62350"/>
            <a:ext cx="2171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89742-3580-4EBB-B817-B82F3F93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81425"/>
            <a:ext cx="2190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Java 21  •  Spring Boot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Dockerfile  •  Jenkinsfile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Ansible playbook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49539-DE31-468A-97CB-284A8E7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10150"/>
            <a:ext cx="1257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52FF5-BF54-4332-9549-9E8732F5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768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995349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B704A-ABAD-467A-9D08-4525D1F0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B1D14-0316-4CA3-95ED-9AA0670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The problem: irrigation decisions arrive too 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D8ABF-A41E-42E5-A270-957458D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6D0FF-36E6-48D3-BE4E-F7D228B2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3AA14-36C2-42B2-BEAF-FA93FA08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02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5AE67-1C2D-400E-9381-3ACFF9C0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21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Calendar-based watering and manual field checks make it hard to see which zone needs attention.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C5463-319C-4EE8-B3DC-429668C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7185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CBF05-6AF0-40C5-995F-B302CDE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647D4-3926-4070-A830-055553C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WATER WASTE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57D90-2095-489C-AB21-6BF756E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Routine schedules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979C1-05C9-4371-AA2B-457F4048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Water may be applied when soil already has enough moisture.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B654B-5E51-49BC-81CB-A46F0C89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71750"/>
            <a:ext cx="337185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DDEE8-CBD2-4701-B6DE-706A47DD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7175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8D8D0-978A-49BA-B5A3-B3E87158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622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DELAYED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A9DFA-F34C-4673-A9AF-E2F8148C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67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Manual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79638-359B-4FA4-824B-5712C1E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52825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A dry zone can remain unnoticed between field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030EC-94A6-4368-A3D3-C4077660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37185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97BC4-EE57-444F-8435-9B275340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71912-D050-49A6-AF30-C7794FF9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LOW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9FE69-AB31-4F32-BC89-AE932C71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Scattered readings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7FE40-80C7-4036-9A35-92C73B1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52825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Operators need a shared view of zones, current readings and alerts.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05689-EF48-4E58-A451-F227BC8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Scope note: the repository prototype simulates sensor readings; no field hardware or measured water savings are evidenced.</a:t>
            </a:r>
          </a:p>
        </p:txBody>
      </p:sp>
    </p:spTree>
    <p:extLst>
      <p:ext uri="{BB962C8B-B14F-4D97-AF65-F5344CB8AC3E}">
        <p14:creationId xmlns:p14="http://schemas.microsoft.com/office/powerpoint/2010/main" val="813581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CD4C6-2C3D-4B06-A4CF-328C388D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FF7FF-5684-4CD2-84C3-312C0D1E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 small dashboard turns readings into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70792-2CF1-49A2-BE2C-70E2DEF0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21440-73D9-4408-B35A-D9D6C0FE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D1B0B-268E-4562-9021-9F1309DC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03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145B1-288B-4D92-B5A6-D351AA6F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9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The MVP makes the latest sensor state visible and supports a simulated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7ED9E-BE84-413D-9C2E-31DBD35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981200" cy="27241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EDA11-3BBA-43BB-BA37-8C19879D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C5B81-09F9-46F9-9076-6006E4E3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Five zones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D0913-B7AD-410C-9B3B-7E5A44FF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562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Seeded sample data for a small farm.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2BDBE-A6D7-4198-9FF1-E07F11A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981200" cy="27241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8FC80-558A-4D3A-8B8D-2FCD831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55489-6397-4BEA-9957-B39C47AE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Status at a glance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A28BE-DF69-40A6-8B95-5F4733FC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1562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Moisture, temperature and status per zone.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127BE-FFAC-4F4E-906E-BC7B9B9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981200" cy="27241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486A8-2A64-4E20-AF62-16BB73DB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86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DF687-4DE7-42AD-8D51-42E4F70D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Critical 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55153-1C28-4B0E-B435-E9149A0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1562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Highlights readings below 30% moisture.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66FB4-8C73-4375-A621-0445BA7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1981200" cy="27241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4CEBB-FFE0-4BF2-898B-CE0A21D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7A365-2F78-4007-A0E5-8D05B300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Find and filter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00EFF-69FA-41C7-A32E-435D783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1562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Search by zone or crop; filter statuses.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03892-26BB-4046-AC28-774C3BD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981200" cy="272415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13EB5-844C-4857-834B-5CA9A20A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27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CA3B0-AAED-4B88-A366-97CA060D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Simulate &amp; irrigate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A2B1A-8381-43A2-9394-1B6160DD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86200"/>
            <a:ext cx="1562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Update readings or set moisture to 75%.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85550-15CD-4FF6-B7EF-859D6262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266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A8834D-46C9-46D4-9A49-779D045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SIMULATED SENSOR DATA</a:t>
            </a:r>
          </a:p>
        </p:txBody>
      </p:sp>
    </p:spTree>
    <p:extLst>
      <p:ext uri="{BB962C8B-B14F-4D97-AF65-F5344CB8AC3E}">
        <p14:creationId xmlns:p14="http://schemas.microsoft.com/office/powerpoint/2010/main" val="7583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E2B93-9A4D-4D54-99AF-8EC10A5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BD21E-4253-48A0-A8B2-1431B3A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How the prototype is wired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40683-9ADA-4B91-9EF3-78C4D2B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4715E-63EC-445A-9D6B-70764AAD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CA54-8934-4541-B9C2-90147A7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04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80B7A-E190-437C-A82E-39D223E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Current implementation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73F05-9B97-41A1-AD9F-29DADC87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381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100CF-3698-437E-BEF5-4582887C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WEB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5E965-CFF2-46EF-9F8B-B8825ED9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HTML / CSS / 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D2ECD-D091-4B16-A665-40C32AEE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Zone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CD589-B30C-4571-8770-6B21D9DC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4A6C1-85C7-4F27-87D6-A42BDBAA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381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FAFB9-879C-4D40-B4D5-6C116EB3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REST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C91AD-C56B-4CF2-BA71-9B90F315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Spring 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62291-301F-4325-BA28-E64FF6B7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SensorApiController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95E37-7FBC-4892-A47B-CA15AD17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1942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4696D-F191-46CC-90EE-3236210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381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3FEFE-7E20-442A-AADF-62F200FA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DATA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266C3-9792-46C0-850B-B0D4782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Spring Data JPA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55139-55B0-49B1-B669-02C75606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SensorRepository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75D15-0057-42CF-B4E0-1B6887C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942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FFF4A-833A-43CC-8051-AB723BA8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23812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DD73D-DF70-409E-BF4E-F8EBEDDC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9CEF4-B14B-405E-81D3-A79DE36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H2 in-memory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486CF-10DB-49BB-A8DB-B888136C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Resets on restart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D91BF-EB0D-4AA6-91B4-4965DCCD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C49FD-DB09-471C-A8A2-146F1997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065D8-1398-4626-962D-195FC00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Java 21  •  Maven 3.9.12  •  Spring Boot 3.2.5  •  App listens on port 8085</a:t>
            </a:r>
          </a:p>
        </p:txBody>
      </p:sp>
    </p:spTree>
    <p:extLst>
      <p:ext uri="{BB962C8B-B14F-4D97-AF65-F5344CB8AC3E}">
        <p14:creationId xmlns:p14="http://schemas.microsoft.com/office/powerpoint/2010/main" val="1833621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8941A-7FB1-4EEE-A749-44C9CF1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APPLICATION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10222-B400-436E-B081-14225715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The dashboard shown in the project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CF0C9-DB05-4288-8B43-FF02A38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97F12-3640-42EE-9E26-8C2C962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A8835-6061-49C4-A5B0-567153B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05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83ECD-A466-412D-8AD5-017BA716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3914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D5574-344F-4E4A-9650-781BE90D6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d547d9aaf4109"/>
          <a:stretch xmlns:a="http://schemas.openxmlformats.org/drawingml/2006/main"/>
        </p:blipFill>
        <p:spPr>
          <a:xfrm xmlns:a="http://schemas.openxmlformats.org/drawingml/2006/main">
            <a:off x="862652" y="1752600"/>
            <a:ext cx="6885297" cy="3867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4678D-C738-49D8-9456-A3042306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38300"/>
            <a:ext cx="3238500" cy="40957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50BB8-E9D9-4426-A26B-4D90E6E6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7642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CAPTURED 11 OCT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C4E88-85AC-40DD-8627-4D31F8D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24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5 zones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66CB2-2C2B-4C98-ADDF-38072FFF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33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2 critical alerts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1E162-29E5-444D-8572-A587892E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45.3% average moisture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5060C-0A55-4EB5-834A-0A9E9F8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686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8900B-73ED-47EE-9A83-CD998C2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This is historical evidence from Windows at localhost:8085. The Ubuntu runtime has not yet been verified in this session.</a:t>
            </a:r>
          </a:p>
        </p:txBody>
      </p:sp>
    </p:spTree>
    <p:extLst>
      <p:ext uri="{BB962C8B-B14F-4D97-AF65-F5344CB8AC3E}">
        <p14:creationId xmlns:p14="http://schemas.microsoft.com/office/powerpoint/2010/main" val="657096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416B9-3008-4086-A777-04825A4C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APPLICATION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CA649-E307-4E22-BA25-6BCC0768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Business rules in the current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D921E-D7FB-44E4-A388-29986E79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78FCE-42B1-4A08-BC29-B4C8C3AC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1B9B4-0EB5-4D60-83D4-9A3C1FF1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06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66C06-755C-4FC9-AD9C-870705A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Moisture status bands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252DF-2CD0-493B-AC33-A652AE85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337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E84BC-E655-4414-BEA4-E3DBF479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&lt; 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AA311-494E-442C-AE0D-842843C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73E0E-9548-4F10-A96A-AD56681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33337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A74AC-A399-42BA-AAD0-1C6944C7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defPPr>
            <a:lvl1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1pPr>
            <a:lvl2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2pPr>
            <a:lvl3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3pPr>
            <a:lvl4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4pPr>
            <a:lvl5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5pPr>
            <a:lvl6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6pPr>
            <a:lvl7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7pPr>
            <a:lvl8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8pPr>
            <a:lvl9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8D39A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78D39A"/>
                </a:solidFill>
                <a:latin typeface="Ubuntu"/>
                <a:ea typeface="Ubuntu"/>
                <a:cs typeface="Ubuntu"/>
              </a:rPr>
              <a:t>30–60%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4A524-E5F6-4C4B-BE66-EE215BB0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OPTIMAL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38176-842C-4A9C-90CD-2C236FF2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3337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2AB8C-10CC-43CF-AAC1-00203676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17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&gt; 60%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89235-54FA-498F-A1A0-3E0A360D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SATURATED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98845-E930-4DBC-929C-42183913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191125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B5B92-A69F-4C99-AD75-62657B80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0C999-236D-451A-9D53-970F4602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B8544-832D-4661-9E71-40B7F0D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Bounded fluctuations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5025C-CFAB-4AE5-ACC9-7B8713BB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4733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Moisture shifts by ±5 points (clamped 5–95); temperature changes by ±1°C (clamped 15–45°C).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65D25-876A-457C-BB22-F306F91E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81450"/>
            <a:ext cx="5191125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CCB31-3CBE-4516-AC1E-5C93B28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8145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4A0BA-8AD1-49D3-967E-91C87A0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71950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IRRIGATION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BA7F5-419F-4410-BE24-70E0216B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76750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Set to 75%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C7B5B-FDBD-4EDF-A639-BC0BFDF2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62525"/>
            <a:ext cx="4733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21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The simulated irrigation endpoint sets the zone moisture to 75% and refreshes its status and timestamp.</a:t>
            </a:r>
          </a:p>
        </p:txBody>
      </p:sp>
    </p:spTree>
    <p:extLst>
      <p:ext uri="{BB962C8B-B14F-4D97-AF65-F5344CB8AC3E}">
        <p14:creationId xmlns:p14="http://schemas.microsoft.com/office/powerpoint/2010/main" val="1225388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0F4178-9FBC-4EDB-AF7B-BB45D49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APPLICATION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CA71C-BC97-4697-B771-0642A159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API surface available in the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2DB74-A97D-42E8-8D23-BD0DA34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EABCA-C7BA-4CFE-BA84-B71D6F5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F268E-9297-44B4-AF84-43756ABD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07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EC6E5-2FC0-4916-90BE-4D4C6BCC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All routes use the /api prefix.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7CA63-EA2E-4E7A-A6C8-A788685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111D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56D08-944A-4E59-89DD-3EAFA199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19B52-D30E-4F9B-B3C7-D1F51D5B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383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/sensors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A58B7-843D-401F-8838-209BB0F5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List zones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F2EF1-8171-4D68-82C5-E79E02FC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4CC92-3EEE-41E1-AD81-2A5D8018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78B78-22B6-4F74-B430-CBC8F78B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2892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/sensors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D3EA8-1CFE-4C8E-86E0-F1FF9EF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Create zone (zone name required)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E83F3-E7AF-43C2-A3A6-9660A0D0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111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A873E-9EBD-48C5-AB1D-6D578C4F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FC8FA-4B52-40EC-B0DD-CDAD28DF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194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/alerts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A5E62-ABAC-4AE9-B665-6DA8BB01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List zones below 30% moisture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A48B9-453D-4194-8E3E-E3A70A4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F9FAE-547D-4B70-BB88-3B398D9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D8EBE-DB83-4427-9C94-D9A81FC0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002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/summary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9C47C-DC1E-4F23-8A76-101539A4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00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Counts and average moisture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49520-728C-445A-8456-CA08841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111D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E1B98-8B1C-446C-A5B2-C9F743E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5B478-C709-449A-9B71-B380134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005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/simulate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DE83D-F3A0-4661-9ADA-AA78A4E8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Simulate updates for all zones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AB358-BD52-41C3-A10B-FC17547D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E69D8-E8BD-47CE-9C9A-F3EDE18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049E1-F1FE-4383-9500-CAC09FEA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9112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/sensors/{id}/irrigate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D139A-94D8-494A-921C-97DF5531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Set selected zone to 75% moisture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7B6739-0158-4FC6-95C0-02563B81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1BE55"/>
                </a:solidFill>
                <a:latin typeface="Ubuntu"/>
                <a:ea typeface="Ubuntu"/>
                <a:cs typeface="Ubuntu"/>
              </a:rPr>
              <a:t>Basic create validation checks for a non-empty zone name; broader numeric input validation is not present.</a:t>
            </a:r>
          </a:p>
        </p:txBody>
      </p:sp>
    </p:spTree>
    <p:extLst>
      <p:ext uri="{BB962C8B-B14F-4D97-AF65-F5344CB8AC3E}">
        <p14:creationId xmlns:p14="http://schemas.microsoft.com/office/powerpoint/2010/main" val="1821767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7D2C1-EC44-4AAC-BEB6-000E5096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SOURCE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95125-B9F2-4479-9231-D796E05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Git history records a structured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5C3D8-5AD8-47B6-8966-3542C09F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D1587-26B8-47FE-9E7B-AE56691A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77C68-59F8-437C-956B-5E42A2F7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08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C6677-F0C5-4DC6-8075-7AC755C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9431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06171-5382-4DDE-8555-5B79D9FC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2B8D2-4E3E-481C-85A7-2BD71D3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Task list &amp; stories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BA95C-0D8D-4C51-BF36-D3765108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B9B26-1922-4DEC-9571-217B7736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14550"/>
            <a:ext cx="19431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2845C-B4E7-476D-B551-F5CAE91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24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BRANCH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14C15-57A2-4BF6-90CF-323711D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feature/sensor-dashboard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1647A-0C5E-4786-A348-E5DBA0A0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ABBD1-CA95-4CE1-BA3F-6B5E51C7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14550"/>
            <a:ext cx="19431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484DC-3DC9-405D-88E8-5E5FA943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AA2E7-D0CE-48F5-AA62-99E1CA6E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PR #4 recorded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9E6FD-DB3A-4A4C-B231-71F5B127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479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BD8EC-529A-4767-B5ED-3C73F96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14550"/>
            <a:ext cx="19431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39FC4-3734-406B-9589-86A15F0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MERGE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A5D46-E63E-491A-AE11-0BD98CF0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Merge commit in local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05F7D-0AC0-40DE-BACE-3AE6F188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512B4-822D-4510-8096-650767B3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19431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26393-CE7D-4267-B133-7511D01B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9681F-1484-4448-BEA0-CE02410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v1.0 tag present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00572-B9DF-42C8-AD2D-EB48FABC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D02C2-39F6-4BA7-8BBE-9CFF02B2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LOCAL REPO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B8812-F5A8-4990-A8A6-DAD19D8D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main is one commit ahead of origin/main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E76A4-7F5E-4084-9058-A954268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The self-building Dockerfile commit has not been pushed. A repository screenshot shows PR #4 before merge; local Git history contains a later merge commit.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15E79-EC57-4F1B-A208-252C9BE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466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B0CC6-96A1-481C-A741-455127EB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PUSH PENDING</a:t>
            </a:r>
          </a:p>
        </p:txBody>
      </p:sp>
    </p:spTree>
    <p:extLst>
      <p:ext uri="{BB962C8B-B14F-4D97-AF65-F5344CB8AC3E}">
        <p14:creationId xmlns:p14="http://schemas.microsoft.com/office/powerpoint/2010/main" val="1046752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2AB5DA-09AF-46C8-87DE-477FF845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D69A3-1199-4D9F-944C-DD5FF72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Jenkinsfile defines a pipeline; deployment is unfinished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7799A-9CE3-4D08-B00B-74BAB753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625A8-0CC3-498A-9891-FBC8C18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1E80C-89D1-4AA4-A1E3-601E5E15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09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30C4-5C6D-4221-9285-50BBA543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431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70C97-9296-495E-B876-06939D2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93680-0668-4721-89A4-A83E90A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4DA43-798E-4ED4-88E6-B7ABD7CC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Git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EA9A6-DC24-4BE0-92FA-2B6A5E5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C3BDF-CD71-4153-906E-5BDBFD00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9431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5B2F5-FF3F-435A-A7E6-3FAA4061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BD1C5-1631-470A-905C-68BA7F5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COMPILE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902B5-294A-46E2-9156-245E7F2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Maven 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3C58C-B044-4887-A0A6-69BA9F4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F14DE-5FEB-4501-921A-18816575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9431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AAE3A-0C4D-4D32-ABE0-EF9A9E6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16B2A-D1FA-4E0E-B5C1-D857333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EFBFE-1313-4DC8-9EBB-089A4C00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Maven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AE78E-87B6-4755-960F-864073F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45687-6732-45CA-A011-51BF5363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19431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562FA-B0D8-4A6D-8126-3221727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51467-04C6-46BE-B1F6-BD79396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93540-91E1-41A1-B418-E0E15FBF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48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Build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D0331-6731-4DE1-83B2-DF5A1C3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19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D4546-D6D1-4017-A001-0980A8B0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19431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A4E96-E2B7-4F4F-B2DF-C2C74D16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A7F4E-8193-46B8-AE8F-658387E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DEPLOY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8921BD-EB70-4CB4-B4E5-9BAC542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1BE55"/>
                </a:solidFill>
                <a:latin typeface="Ubuntu"/>
                <a:ea typeface="Ubuntu"/>
                <a:cs typeface="Ubuntu"/>
              </a:rPr>
              <a:t>Echo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7CFD6-AF02-4436-89F5-68B64208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911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6F95E-9B49-4436-B794-4392F006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851D5-CBF9-4197-83E0-276DDBF2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CONFIGURATION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B91811-CAC0-4A7F-8E43-7A710A48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Jenkins job screenshot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E630D6-1960-4977-825B-21429C90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Shows a job config for branch develop, but the dashboard screenshot has no jobs and an offline built-in node.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9560B-84CC-4FFB-A61C-2BC0E0F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00500"/>
            <a:ext cx="51911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6A32BC-73CA-476C-8D4D-5B6CDE3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005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C4B2B0-391D-4E58-9C89-DC307DF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91000"/>
            <a:ext cx="473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CURRENT JENKINSFILE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EE7FE5-1341-448B-B077-F3753AD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Linux shell steps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97DFB6-5E5E-4860-A181-6155372B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815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The deploy stage only prints a message; no Docker publish or live health check is configured.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AF2683-8D49-478F-AE7B-14F8BAF1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No current successful pipeline run or archived test report was found.</a:t>
            </a:r>
          </a:p>
        </p:txBody>
      </p:sp>
    </p:spTree>
    <p:extLst>
      <p:ext uri="{BB962C8B-B14F-4D97-AF65-F5344CB8AC3E}">
        <p14:creationId xmlns:p14="http://schemas.microsoft.com/office/powerpoint/2010/main" val="376172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990C9-3A89-4B62-B342-4D68614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A8D25-2292-448A-9E41-B8C084A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What is covered—and what remains unproven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03105-9A18-44AB-9201-1EBF003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BF98F-4E9B-45AB-AA6A-AF9A6BB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AA895-82F8-4ED4-BAF3-BDD1B87A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10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244A5-3F88-4FA6-BA56-D3063731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673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6CE0D-F0B5-4BF0-B995-94FD4439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SOURCE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8C76-54BD-4F18-B871-2ADAF49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60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EC2F4-927C-4AF6-BCF6-80011821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MockMvc integration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E66BF-8977-4195-859E-E5C4B7DD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171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They exercise API behavior in the Spring test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00AEA-12F6-4B19-B39B-A385272A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55626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A43C0-701F-4DA8-B11A-6C514B2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EVIDENCE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87081-B6FF-4763-8A29-17370906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>
            <a:def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25FB9-3CFB-4248-ACCF-FE48EAF1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No Selenium/WebDriver test class found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7A80E-72FA-4780-91E4-FD6D36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>
            <a:def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26433-9A68-4748-848C-77402191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Maven dependency fetch was blocked by DNS in this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938F5-A5CE-4E8F-8D26-0F11491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>
            <a:def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10F1D-8457-4AB3-93A7-430D7B8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No Jenkins test report or current pass log found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19270-6605-4FFE-A7F8-BC12FBB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425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Do not claim the assignment’s Selenium or timing targets as achieved without a fresh run and captured results.</a:t>
            </a:r>
          </a:p>
        </p:txBody>
      </p:sp>
    </p:spTree>
    <p:extLst>
      <p:ext uri="{BB962C8B-B14F-4D97-AF65-F5344CB8AC3E}">
        <p14:creationId xmlns:p14="http://schemas.microsoft.com/office/powerpoint/2010/main" val="1870644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BBE70-0B35-4070-8338-46322E1A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CONTAINERS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BEADC-F7BE-4DCF-92FA-84900BE2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Docker image definition is ready to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E1C2D-4404-4CC0-820A-C56B1081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DF64-7571-47B9-BC9D-A3CF456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91B4E-94A4-4AF8-A706-F96A23F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11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DB51D-D075-4BCE-9A9F-C95243E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Current Dockerfile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A2005-D69F-40AA-AF8F-48F2A068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718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79E69-EC33-4B10-B614-F0E9A536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3BB04-6A0C-41AD-80B7-FFFA3C1C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BUILD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31325-941C-4059-80C7-209D2C6E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Maven 3.9.9 + Temurin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664CF-37B8-458C-A5DD-729C49C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Compiles the project inside the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44F44-E314-46D4-B97D-848A98D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3718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4DC77-6C51-4330-BC7B-A9CBDD9A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C1538-2395-4864-9BBA-435FC739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RUNTIME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8A870-5B5B-44E6-A53D-FAE085B2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Temurin 21 JRE Alpine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DC187-69CC-48D1-8BBE-E6AFDE2D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67075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Runs as non-root UID/GID 10001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A5E48-0AA7-4F6F-B931-FA4CC9D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3718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0CF4E-CF44-4765-89A1-D3CC39B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ADBEC-A81D-468E-B9FA-332976C2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F07A5-FE3A-47E8-B4A0-6E038AEF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Container port 8085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10720-5959-40A2-9159-181B996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67075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Guide maps host 8086 → container 8085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32B54-132E-4104-830B-6035F0D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B7EE7-04C3-4003-B8C3-E7521E2F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Current Ubuntu session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7DA23-400D-41DF-8333-E0363CB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Docker CLI could not reach a daemon socket here. Image build and container state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874519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D65FB-59C2-4AF5-8EC8-C0FAC260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BA1F7-C069-497A-8D0A-371C6AF2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Ansible automation exists; repeatability needs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EEE88-97EE-4682-9F1B-5D43DB46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E66EA-0929-411E-AF00-24D4F508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29DEC-C87A-4EA9-AE85-2DC5C46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12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F09C4-8C6F-41F5-96B7-535D964F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9587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59689-7E63-4254-B83F-690CCE17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FD3CC-A70E-46B5-B059-2301A2B7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638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3A9FF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73A9FF"/>
                </a:solidFill>
                <a:latin typeface="Ubuntu"/>
                <a:ea typeface="Ubuntu"/>
                <a:cs typeface="Ubuntu"/>
              </a:rPr>
              <a:t>PLAYBOOK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F4283-C719-4E7A-9FB9-AB3F68DF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63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000"/>
          </a:bodyPr>
          <a:lstStyle xmlns:a="http://schemas.openxmlformats.org/drawingml/2006/main">
            <a:def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8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Create directories → stop/remove container → run new image → poll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D7B69-0823-43E6-844B-26E25217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46386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The current playbook contains the intended deployment 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0C647-F0EF-4C65-85CA-2E407590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55626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004D2-FFFD-414C-B944-BC1AACCF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GAPS TO ADDRESS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A7698-AC25-4AC8-A956-716CD96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>
            <a:def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F571A-CCD4-45A2-85EE-9480D91A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Stops and recreates on every run, so not idempotent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8DAE0-6C29-4BF6-A99C-5F9FB4C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>
            <a:def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42909-36BC-4EAC-B2F0-4BA53458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Docker service task ignores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B0BAA-6191-4B1E-AEB1-ACCA67FC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>
            <a:def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C60CA-24D3-4105-880A-329D3CE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No Docker package/user provisioning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A6F8B-F1F2-4BD1-805B-3E3C0531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>
            <a:def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defPPr>
            <a:lvl1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1pPr>
            <a:lvl2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2pPr>
            <a:lvl3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3pPr>
            <a:lvl4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4pPr>
            <a:lvl5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5pPr>
            <a:lvl6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6pPr>
            <a:lvl7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7pPr>
            <a:lvl8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8pPr>
            <a:lvl9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7575"/>
                </a:solidFill>
                <a:latin typeface="Ubuntu"/>
                <a:ea typeface="Ubuntu"/>
                <a:cs typeface="Ubuntu"/>
              </a:defRPr>
            </a:pPr>
            <a:r>
              <a:rPr sz="1650" b="1">
                <a:solidFill>
                  <a:srgbClr val="FF7575"/>
                </a:solidFill>
                <a:latin typeface="Ubuntu"/>
                <a:ea typeface="Ubuntu"/>
                <a:cs typeface="Ubuntu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0BAD0-C9DA-4E3C-B85B-8E2F5C9A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19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No demonstrated rollback or healthy-response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0C66A-5E3C-445B-9D1A-333D1430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543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AB2CE-2E69-4EC8-B204-E133274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ANSIBLE NOT INSTALLED IN CURRENT SESSION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6A7AF-E415-40CA-BAB7-4B123D8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500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Run it only after Docker access and target host settings are configured.</a:t>
            </a:r>
          </a:p>
        </p:txBody>
      </p:sp>
    </p:spTree>
    <p:extLst>
      <p:ext uri="{BB962C8B-B14F-4D97-AF65-F5344CB8AC3E}">
        <p14:creationId xmlns:p14="http://schemas.microsoft.com/office/powerpoint/2010/main" val="1770456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90E7-E960-4304-9758-A0B0EB03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DEMO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1B02A-AEA6-4C4C-A766-8E9646FE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Ubuntu demo runbook: bring the app up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449B9-232A-4CD9-82A1-191A5024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645D3-A2AD-4CEE-ADA8-4565FBBA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DED0F-5128-495A-9A01-A498583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13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BC9E9-F13F-4F2E-9151-9C5B70EE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103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8444E-813A-4A4E-9166-CFC6BB7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TERMINAL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C65B8-D4B5-400E-8902-69C6936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$ cd ~/Desktop/DevOps-Project/DevOPs-Project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EA65B-58DC-4535-BDE4-8A8DED3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$ git status -sb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15F86-5BD2-416D-98F9-0320EC2C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$ java -version &amp;&amp; mvn 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5FA20-6882-4583-9697-AC14A35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$ mvn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54E82-2A5C-4FAE-8E36-22AD4B7D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$ docker build -t smart-irrigation:local 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4EDAC-8F8D-4FAF-AE08-E0648C4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F5F7FB"/>
                </a:solidFill>
                <a:latin typeface="Ubuntu"/>
                <a:ea typeface="Ubuntu"/>
                <a:cs typeface="Ubuntu"/>
              </a:rPr>
              <a:t>$ docker run --rm -p 8086:8085 smart-irrigation:local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F141C-D9CB-493A-A03F-7B89B538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76400"/>
            <a:ext cx="3981450" cy="4095750"/>
          </a:xfrm>
          <a:prstGeom xmlns:a="http://schemas.openxmlformats.org/drawingml/2006/main" prst="roundRect">
            <a:avLst>
              <a:gd name="adj" fmla="val 4306"/>
            </a:avLst>
          </a:prstGeom>
          <a:solidFill xmlns:a="http://schemas.openxmlformats.org/drawingml/2006/main">
            <a:srgbClr val="16263A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4C549-30A5-4E78-B5ED-B4E2B55E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125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OPEN THESE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FA988-C4DE-4AE0-9991-F860F0DF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App</a:t>
            </a:r>
          </a:p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http://localhost:8086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9E5C0-C9F4-4A36-A69A-02B7E9C2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Jenkins</a:t>
            </a:r>
          </a:p>
          <a:p xmlns:a="http://schemas.openxmlformats.org/drawingml/2006/main">
            <a:pPr algn="l">
              <a:defRPr sz="172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72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http://localhost:8080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A9FB4-2517-4757-8DAA-DBFD3B6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Docker dashboard</a:t>
            </a:r>
          </a:p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Open Docker Desktop or your installed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E2BE9-0C4E-499F-8DAD-F3C4D8A0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27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The Jenkins URL assumes a local Jenkins service is installed and running.</a:t>
            </a:r>
          </a:p>
        </p:txBody>
      </p:sp>
    </p:spTree>
    <p:extLst>
      <p:ext uri="{BB962C8B-B14F-4D97-AF65-F5344CB8AC3E}">
        <p14:creationId xmlns:p14="http://schemas.microsoft.com/office/powerpoint/2010/main" val="1851946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DC7D0-4CC8-44E3-B08C-763E0AFB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defPPr>
            <a:lvl1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1pPr>
            <a:lvl2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2pPr>
            <a:lvl3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3pPr>
            <a:lvl4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4pPr>
            <a:lvl5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5pPr>
            <a:lvl6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6pPr>
            <a:lvl7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7pPr>
            <a:lvl8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8pPr>
            <a:lvl9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D7C2"/>
                </a:solidFill>
                <a:latin typeface="Ubuntu"/>
                <a:ea typeface="Ubuntu"/>
                <a:cs typeface="Ubuntu"/>
              </a:defRPr>
            </a:pPr>
            <a:r>
              <a:rPr sz="1050" b="1">
                <a:solidFill>
                  <a:srgbClr val="47D7C2"/>
                </a:solidFill>
                <a:latin typeface="Ubuntu"/>
                <a:ea typeface="Ubuntu"/>
                <a:cs typeface="Ubuntu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1EF01-C2EA-43B8-B79D-CAA6B2A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3150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Before the live demo: close these evidence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956D6-250B-4C7D-8C92-D643B6D1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531E-0D08-41E3-9778-7AFFEB33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CHETAN KATKAR  •  23102A0024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58CB1-99A1-4756-891B-A1882A6B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975" b="1">
                <a:solidFill>
                  <a:srgbClr val="BAC7D6"/>
                </a:solidFill>
                <a:latin typeface="Ubuntu"/>
                <a:ea typeface="Ubuntu"/>
                <a:cs typeface="Ubuntu"/>
              </a:rPr>
              <a:t>14 /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FC521-7266-4F96-A85B-50D0EF3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3E96D-9D2F-480D-80E8-75FD862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ABE29-F09E-4C8A-B8FF-86D12F02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defPPr>
            <a:lvl1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1pPr>
            <a:lvl2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2pPr>
            <a:lvl3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3pPr>
            <a:lvl4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4pPr>
            <a:lvl5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5pPr>
            <a:lvl6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6pPr>
            <a:lvl7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7pPr>
            <a:lvl8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8pPr>
            <a:lvl9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0B1220"/>
                </a:solidFill>
                <a:latin typeface="Ubuntu"/>
                <a:ea typeface="Ubuntu"/>
                <a:cs typeface="Ubuntu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6A012-7916-4CB7-B4CB-155BC22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573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Authenticate 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55873-95EB-421C-9491-F67B363C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5737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Use SSH or a PAT; push the local commit.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8DD90-9E31-4B35-9882-FA25A70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6E684-CCA7-4AE0-B093-5D0C341E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3F0CC-5D83-44FB-95B3-CDFBF96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defPPr>
            <a:lvl1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1pPr>
            <a:lvl2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2pPr>
            <a:lvl3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3pPr>
            <a:lvl4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4pPr>
            <a:lvl5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5pPr>
            <a:lvl6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6pPr>
            <a:lvl7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7pPr>
            <a:lvl8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8pPr>
            <a:lvl9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0B1220"/>
                </a:solidFill>
                <a:latin typeface="Ubuntu"/>
                <a:ea typeface="Ubuntu"/>
                <a:cs typeface="Ubuntu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51FE9-EFE5-4244-8FC3-A98F8B37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765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Prove the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36F68-6DB3-4DFF-B10D-6ED296E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7652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Run mvn test after dependencies resolve.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0DDE0-95FE-4F23-8FEB-23B5C49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15CC2-8B96-4026-BA84-938DD23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29DFE-5285-4981-8AE4-7FAFECA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defPPr>
            <a:lvl1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1pPr>
            <a:lvl2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2pPr>
            <a:lvl3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3pPr>
            <a:lvl4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4pPr>
            <a:lvl5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5pPr>
            <a:lvl6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6pPr>
            <a:lvl7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7pPr>
            <a:lvl8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8pPr>
            <a:lvl9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0B1220"/>
                </a:solidFill>
                <a:latin typeface="Ubuntu"/>
                <a:ea typeface="Ubuntu"/>
                <a:cs typeface="Ubuntu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7A5FD-BD29-44A6-8DB5-E60ACE9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956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Run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69B2A-91E4-43E7-9171-62BEF35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9567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Start Jenkins; configure Git/credentials; capture a passing build.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07BC3-6243-43AE-B226-1231A383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22450-2839-437A-8528-4228F563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90638-36F0-424A-BE88-D77C968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defPPr>
            <a:lvl1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1pPr>
            <a:lvl2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2pPr>
            <a:lvl3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3pPr>
            <a:lvl4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4pPr>
            <a:lvl5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5pPr>
            <a:lvl6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6pPr>
            <a:lvl7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7pPr>
            <a:lvl8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8pPr>
            <a:lvl9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0B1220"/>
                </a:solidFill>
                <a:latin typeface="Ubuntu"/>
                <a:ea typeface="Ubuntu"/>
                <a:cs typeface="Ubuntu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602AD-2D5B-4276-ACA7-26135BA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148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Run Docker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688AA-5523-40B1-A099-BA31A819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482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Build image, start container, verify app on :8086.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77652-7E3B-439E-8D8C-FB7D6F89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5276B-9C7C-4F27-9092-2F882D5F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C8C49-9C45-498F-9611-383801AE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defPPr>
            <a:lvl1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1pPr>
            <a:lvl2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2pPr>
            <a:lvl3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3pPr>
            <a:lvl4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4pPr>
            <a:lvl5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5pPr>
            <a:lvl6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6pPr>
            <a:lvl7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7pPr>
            <a:lvl8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8pPr>
            <a:lvl9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0B1220"/>
                </a:solidFill>
                <a:latin typeface="Ubuntu"/>
                <a:ea typeface="Ubuntu"/>
                <a:cs typeface="Ubuntu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656C3-AD9C-4C52-A246-29BB7084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39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defPPr>
            <a:lvl1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1pPr>
            <a:lvl2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2pPr>
            <a:lvl3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3pPr>
            <a:lvl4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4pPr>
            <a:lvl5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5pPr>
            <a:lvl6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6pPr>
            <a:lvl7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7pPr>
            <a:lvl8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8pPr>
            <a:lvl9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Ubuntu"/>
                <a:ea typeface="Ubuntu"/>
                <a:cs typeface="Ubuntu"/>
              </a:defRPr>
            </a:pPr>
            <a:r>
              <a:rPr sz="1575" b="1">
                <a:solidFill>
                  <a:srgbClr val="F5F7FB"/>
                </a:solidFill>
                <a:latin typeface="Ubuntu"/>
                <a:ea typeface="Ubuntu"/>
                <a:cs typeface="Ubuntu"/>
              </a:rPr>
              <a:t>Complete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F5B009-EF05-478B-81FE-DBAAC82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3397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defPPr>
            <a:lvl1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1pPr>
            <a:lvl2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2pPr>
            <a:lvl3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3pPr>
            <a:lvl4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4pPr>
            <a:lvl5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5pPr>
            <a:lvl6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6pPr>
            <a:lvl7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7pPr>
            <a:lvl8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8pPr>
            <a:lvl9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AC7D6"/>
                </a:solidFill>
                <a:latin typeface="Ubuntu"/>
                <a:ea typeface="Ubuntu"/>
                <a:cs typeface="Ubuntu"/>
              </a:defRPr>
            </a:pPr>
            <a:r>
              <a:rPr sz="1425" b="0">
                <a:solidFill>
                  <a:srgbClr val="BAC7D6"/>
                </a:solidFill>
                <a:latin typeface="Ubuntu"/>
                <a:ea typeface="Ubuntu"/>
                <a:cs typeface="Ubuntu"/>
              </a:rPr>
              <a:t>Add Selenium checks; make Ansible repeatable; add health and rollback evidence.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5D02AA-05DE-466F-BEEC-F69C41D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42"/>
          </a:bodyPr>
          <a:lstStyle xmlns:a="http://schemas.openxmlformats.org/drawingml/2006/main">
            <a:def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defPPr>
            <a:lvl1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1pPr>
            <a:lvl2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2pPr>
            <a:lvl3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3pPr>
            <a:lvl4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4pPr>
            <a:lvl5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5pPr>
            <a:lvl6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6pPr>
            <a:lvl7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7pPr>
            <a:lvl8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8pPr>
            <a:lvl9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1BE55"/>
                </a:solidFill>
                <a:latin typeface="Ubuntu"/>
                <a:ea typeface="Ubuntu"/>
                <a:cs typeface="Ubuntu"/>
              </a:defRPr>
            </a:pPr>
            <a:r>
              <a:rPr sz="1350" b="1">
                <a:solidFill>
                  <a:srgbClr val="F1BE55"/>
                </a:solidFill>
                <a:latin typeface="Ubuntu"/>
                <a:ea typeface="Ubuntu"/>
                <a:cs typeface="Ubuntu"/>
              </a:rPr>
              <a:t>The project UI is demonstrable from historical evidence. Live Ubuntu readiness depends on completing and capturing the checks above.</a:t>
            </a:r>
          </a:p>
        </p:txBody>
      </p:sp>
    </p:spTree>
    <p:extLst>
      <p:ext uri="{BB962C8B-B14F-4D97-AF65-F5344CB8AC3E}">
        <p14:creationId xmlns:p14="http://schemas.microsoft.com/office/powerpoint/2010/main" val="563892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2026-10-29T16:36:50.1570000Z</dcterms:created>
  <dcterms:modified xsi:type="dcterms:W3CDTF">2026-10-29T16:36:50.1570000Z</dcterms:modified>
</coreProperties>
</file>